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73" r:id="rId5"/>
    <p:sldId id="274" r:id="rId6"/>
    <p:sldId id="262" r:id="rId7"/>
    <p:sldId id="272" r:id="rId8"/>
    <p:sldId id="264" r:id="rId9"/>
    <p:sldId id="269" r:id="rId10"/>
    <p:sldId id="271" r:id="rId11"/>
    <p:sldId id="265" r:id="rId12"/>
    <p:sldId id="266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3BE9-B7DD-DFB5-295E-136E2D337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31973D-C9FF-D60F-367B-5D956721C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C0165-CC4F-E680-0E51-E13EBA79E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66A3-1486-48FC-9F5A-87CBBF56905F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3C040-60B6-9CA9-25CD-B28601245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0091B-FAC6-C913-DA0C-06DB4DD57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0DF8-8A3F-4A58-ABBA-35BA50D7B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72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ED79-7E33-9A5E-0E3F-33474AAA8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EBB81-33C3-B70B-F902-42826B7FD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68F8E-4237-7BC4-AA04-7D2097ECF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66A3-1486-48FC-9F5A-87CBBF56905F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7833F-E3A5-22B9-3AA4-80F977FF3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A71BC-E744-2EAF-5730-63EAA24DF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0DF8-8A3F-4A58-ABBA-35BA50D7B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012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A6F88-A498-1E8A-C71F-AE14730A5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0920E-F885-D573-40FF-692CBC80D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54242-F06E-653C-DB91-E6D58AF6A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66A3-1486-48FC-9F5A-87CBBF56905F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4DA4-67A3-D4B2-C11B-E59B91790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BD83E-BCCB-CAF2-ACEE-14E93D28D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0DF8-8A3F-4A58-ABBA-35BA50D7B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615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5D21A-C092-B451-0B2F-304BC36A9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F9ADE-0A0B-6E13-9340-B370E2916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AFE06-95B1-2ED3-0DC5-58F4E62A4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716EB-EBDF-039B-3AB1-AB9613119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66A3-1486-48FC-9F5A-87CBBF56905F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AECE5-C58B-0DA5-42C0-C426E89FC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B5160-342A-4E15-2FC3-32E262AF5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0DF8-8A3F-4A58-ABBA-35BA50D7B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8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D64B-C217-D63D-402E-A84434D39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B2F30-C9FC-EBCA-16E0-79FF8603A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ABA0E-4D79-21B2-A690-FAB56CBBC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CECAFB-B2D0-67E6-B779-9A5750F16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215720-3552-CBC1-1100-7B667038E2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445879-2796-C288-A78F-A61DBF4B1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66A3-1486-48FC-9F5A-87CBBF56905F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C28625-EF5D-E5CD-4214-5ACDDCB35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3D86CC-A156-642A-762E-B07DE0AB2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0DF8-8A3F-4A58-ABBA-35BA50D7B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901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56438-680E-3A5B-4A27-34DF88E15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FC40EA-E255-26CC-0115-8D28A8117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66A3-1486-48FC-9F5A-87CBBF56905F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8488E6-459F-1C03-6563-28A91619A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1CE39-99BF-06B1-E593-FF32A261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0DF8-8A3F-4A58-ABBA-35BA50D7B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51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4D2A0E-EB7C-AC84-0502-627AF280C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66A3-1486-48FC-9F5A-87CBBF56905F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75AD98-75A0-79A0-4226-225AC7474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E7F41-5571-F387-8BAB-604BA324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0DF8-8A3F-4A58-ABBA-35BA50D7B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11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E1C7A-21CB-9172-C805-0110FBF9B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1B3AD-9026-7581-B67C-154F7E29B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154C7-6443-65B0-7DE0-08F26CAE9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D84FA-7244-9B5E-3855-415B5EF2E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66A3-1486-48FC-9F5A-87CBBF56905F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D9D71-2ED6-6069-452E-C85CC62FE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25B0A-4D07-B75A-BF98-377E9FCA2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0DF8-8A3F-4A58-ABBA-35BA50D7B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016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B4772-7469-49D2-3F79-C9BDB8D33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95106A-F20E-4ACF-FFF6-BA9383694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3DC43-AD37-CC06-A4BD-0F1F7BF5F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58F51-1E50-622C-0EEE-02AE3045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66A3-1486-48FC-9F5A-87CBBF56905F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86FDA-2143-558B-E052-6851A10C5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6A535-6DA8-6455-EE67-8C705D821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0DF8-8A3F-4A58-ABBA-35BA50D7B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20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F5F4E-2B12-8A79-5B30-0B6181923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4851C-5956-275C-3815-C0C6A2859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A7E02-F55A-CF81-4659-381ED642F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66A3-1486-48FC-9F5A-87CBBF56905F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521FA-AE1B-5E2D-3CC3-FA58BEEB3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A9EDC-D92B-86DC-7AD1-9AD1DB35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0DF8-8A3F-4A58-ABBA-35BA50D7B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5BDDBC-A7EA-09BB-24A9-740D83BEC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10350-E248-052C-7D34-5E702F145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8DFAA-0230-B4CE-51D9-9D9FB01FC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66A3-1486-48FC-9F5A-87CBBF56905F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1B0D2-0BD2-F3CB-281B-75CAF8279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22BD4-CBCD-D968-9C6A-05626A9C1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0DF8-8A3F-4A58-ABBA-35BA50D7B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31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02431B-7C1B-0FED-023C-937B4A04A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7CB-82E9-12D7-BAA1-08E1E86F8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042E4-AFFC-1AFE-EE5A-A89A8A6161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5766A3-1486-48FC-9F5A-87CBBF56905F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0EEF4-49F5-A236-A17F-A2D391EF6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A1EA4-C34D-5CE6-DF83-CE2024EB1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A0DF8-8A3F-4A58-ABBA-35BA50D7B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4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16AE0D-14AE-0F5A-D474-D2BA3ACCDF7B}"/>
              </a:ext>
            </a:extLst>
          </p:cNvPr>
          <p:cNvSpPr txBox="1"/>
          <p:nvPr/>
        </p:nvSpPr>
        <p:spPr>
          <a:xfrm>
            <a:off x="0" y="0"/>
            <a:ext cx="121920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F2328"/>
                </a:solidFill>
                <a:effectLst/>
                <a:latin typeface="Mona Sans VF"/>
              </a:rPr>
              <a:t>University:</a:t>
            </a:r>
            <a:r>
              <a:rPr lang="en-US" sz="2000" b="0" i="0" dirty="0">
                <a:solidFill>
                  <a:srgbClr val="1F2328"/>
                </a:solidFill>
                <a:effectLst/>
                <a:latin typeface="Mona Sans VF"/>
              </a:rPr>
              <a:t> El Sewedy University of Technology (EUT)</a:t>
            </a:r>
          </a:p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F2328"/>
                </a:solidFill>
                <a:effectLst/>
                <a:latin typeface="Mona Sans VF"/>
              </a:rPr>
              <a:t>Course:</a:t>
            </a:r>
            <a:r>
              <a:rPr lang="en-US" sz="2000" b="0" i="0" dirty="0">
                <a:solidFill>
                  <a:srgbClr val="1F2328"/>
                </a:solidFill>
                <a:effectLst/>
                <a:latin typeface="Mona Sans VF"/>
              </a:rPr>
              <a:t> CET251 - Artificial Intelligence</a:t>
            </a:r>
          </a:p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F2328"/>
                </a:solidFill>
                <a:effectLst/>
                <a:latin typeface="Mona Sans VF"/>
              </a:rPr>
              <a:t>Project ID:</a:t>
            </a:r>
            <a:r>
              <a:rPr lang="en-US" sz="2000" b="0" i="0" dirty="0">
                <a:solidFill>
                  <a:srgbClr val="1F2328"/>
                </a:solidFill>
                <a:effectLst/>
                <a:latin typeface="Mona Sans VF"/>
              </a:rPr>
              <a:t> Project 8 - Maze Solver Challenge</a:t>
            </a:r>
          </a:p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F2328"/>
                </a:solidFill>
                <a:effectLst/>
                <a:latin typeface="Mona Sans VF"/>
              </a:rPr>
              <a:t>Level:</a:t>
            </a:r>
            <a:r>
              <a:rPr lang="en-US" sz="2000" b="0" i="0" dirty="0">
                <a:solidFill>
                  <a:srgbClr val="1F2328"/>
                </a:solidFill>
                <a:effectLst/>
                <a:latin typeface="Mona Sans VF"/>
              </a:rPr>
              <a:t> Second-Year, Data Science &amp; AI Technology</a:t>
            </a:r>
          </a:p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F2328"/>
                </a:solidFill>
                <a:effectLst/>
                <a:latin typeface="Mona Sans VF"/>
              </a:rPr>
              <a:t>Team Members:</a:t>
            </a:r>
            <a:r>
              <a:rPr lang="en-US" sz="2000" b="0" i="0" dirty="0">
                <a:solidFill>
                  <a:srgbClr val="1F2328"/>
                </a:solidFill>
                <a:effectLst/>
                <a:latin typeface="Mona Sans VF"/>
              </a:rPr>
              <a:t> Omar Ahmed Ramadan &amp; Ahmed Mohamed Aldmrdash &amp; Moaaz ABD </a:t>
            </a:r>
            <a:r>
              <a:rPr lang="en-US" sz="2000" b="0" i="0" dirty="0" err="1">
                <a:solidFill>
                  <a:srgbClr val="1F2328"/>
                </a:solidFill>
                <a:effectLst/>
                <a:latin typeface="Mona Sans VF"/>
              </a:rPr>
              <a:t>Aljawwad</a:t>
            </a:r>
            <a:r>
              <a:rPr lang="en-US" sz="2000" b="0" i="0" dirty="0">
                <a:solidFill>
                  <a:srgbClr val="1F2328"/>
                </a:solidFill>
                <a:effectLst/>
                <a:latin typeface="Mona Sans VF"/>
              </a:rPr>
              <a:t> Fouad</a:t>
            </a:r>
          </a:p>
          <a:p>
            <a:pPr algn="just">
              <a:buNone/>
            </a:pP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44345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24BB9-ABFD-A38B-7E43-6098E8F37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8BD09E-FC1F-FFE9-E6DA-D2621684DC24}"/>
              </a:ext>
            </a:extLst>
          </p:cNvPr>
          <p:cNvSpPr txBox="1"/>
          <p:nvPr/>
        </p:nvSpPr>
        <p:spPr>
          <a:xfrm>
            <a:off x="0" y="0"/>
            <a:ext cx="1219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Project Overview &amp; Our Approach :</a:t>
            </a:r>
            <a:endParaRPr lang="ar-EG" b="1" dirty="0"/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Why Pacman Environment?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 chose the Berkeley Pacman framework as our simulation environment because it provides a perfect grid-based maze with walls, paths, and dynamic enemies.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Our Core Contribution: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 focused entirely on the AI logic rather than graphics. We built the agent's "brain" from scratch by implementing: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Blind and Informed Search Algorithms (BFS, DFS, A*).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A Neural Network for risk prediction and trap avoidance.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459FA6-19D2-F1FD-47FD-E24C7D2A1B59}"/>
              </a:ext>
            </a:extLst>
          </p:cNvPr>
          <p:cNvSpPr txBox="1"/>
          <p:nvPr/>
        </p:nvSpPr>
        <p:spPr>
          <a:xfrm>
            <a:off x="0" y="3429000"/>
            <a:ext cx="1219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Formulation (PEAS Analysis):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Performance Measure:</a:t>
            </a:r>
            <a:r>
              <a:rPr lang="en-US" dirty="0"/>
              <a:t> Find the shortest path, minimize expanded nodes, and avoid traps/ghosts.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Environment:</a:t>
            </a:r>
            <a:r>
              <a:rPr lang="en-US" dirty="0"/>
              <a:t> 2D grid maze of varying complexities (Tiny, Medium, Big) with static walls and dynamic ghosts.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Actuators:</a:t>
            </a:r>
            <a:r>
              <a:rPr lang="en-US" dirty="0"/>
              <a:t> Movement in four directions (North, South, East, West).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Sensors:</a:t>
            </a:r>
            <a:r>
              <a:rPr lang="en-US" dirty="0"/>
              <a:t> Perception of surrounding walls, distance to the goal, and ghost proximity.</a:t>
            </a:r>
          </a:p>
        </p:txBody>
      </p:sp>
    </p:spTree>
    <p:extLst>
      <p:ext uri="{BB962C8B-B14F-4D97-AF65-F5344CB8AC3E}">
        <p14:creationId xmlns:p14="http://schemas.microsoft.com/office/powerpoint/2010/main" val="3293667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F1A0C-016B-6807-6B18-E542D74DC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28325F-A50A-48FD-2278-2C812AA92509}"/>
              </a:ext>
            </a:extLst>
          </p:cNvPr>
          <p:cNvSpPr txBox="1"/>
          <p:nvPr/>
        </p:nvSpPr>
        <p:spPr>
          <a:xfrm>
            <a:off x="0" y="3429000"/>
            <a:ext cx="1219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Search Algorithms Implementation 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Breadth-First Search (BFS):</a:t>
            </a:r>
            <a:r>
              <a:rPr lang="en-US" dirty="0"/>
              <a:t> Uninformed search. Guarantees the shortest path but consumes more memory by expanding a large number of nodes.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Depth-First Search (DFS):</a:t>
            </a:r>
            <a:r>
              <a:rPr lang="en-US" dirty="0"/>
              <a:t> Uninformed search. Explores deep paths quickly but does </a:t>
            </a:r>
            <a:r>
              <a:rPr lang="en-US" b="1" dirty="0"/>
              <a:t>NOT</a:t>
            </a:r>
            <a:r>
              <a:rPr lang="en-US" dirty="0"/>
              <a:t> guarantee the optimal (shortest) path.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i="1" dirty="0"/>
              <a:t>A Search (A</a:t>
            </a:r>
            <a:r>
              <a:rPr lang="ar-EG" b="1" i="1" dirty="0"/>
              <a:t>*</a:t>
            </a:r>
            <a:r>
              <a:rPr lang="en-US" b="1" i="1" dirty="0"/>
              <a:t>): </a:t>
            </a:r>
            <a:r>
              <a:rPr lang="en-US" dirty="0"/>
              <a:t>Informed search. Uses a heuristic function to find the optimal path efficiently with fewer node expansions.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5ED323-7431-F4D4-66A1-52FFFA6282C8}"/>
              </a:ext>
            </a:extLst>
          </p:cNvPr>
          <p:cNvSpPr txBox="1"/>
          <p:nvPr/>
        </p:nvSpPr>
        <p:spPr>
          <a:xfrm>
            <a:off x="0" y="0"/>
            <a:ext cx="1219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System Architecture &amp; Modules :</a:t>
            </a:r>
          </a:p>
          <a:p>
            <a:pPr>
              <a:buNone/>
            </a:pPr>
            <a:endParaRPr lang="ar-EG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pacman.py:</a:t>
            </a:r>
            <a:r>
              <a:rPr lang="en-US" dirty="0"/>
              <a:t> The main engine handling game states and graphics.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search.py:</a:t>
            </a:r>
            <a:r>
              <a:rPr lang="en-US" dirty="0"/>
              <a:t> Contains the logic for BFS, DFS, and A* Search.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searchAgents.py:</a:t>
            </a:r>
            <a:r>
              <a:rPr lang="en-US" dirty="0"/>
              <a:t> The bridge that applies algorithms to move Pacman.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risk_prediction.py:</a:t>
            </a:r>
            <a:r>
              <a:rPr lang="en-US" dirty="0"/>
              <a:t> The Machine Learning module for the Neural Network.</a:t>
            </a:r>
          </a:p>
        </p:txBody>
      </p:sp>
    </p:spTree>
    <p:extLst>
      <p:ext uri="{BB962C8B-B14F-4D97-AF65-F5344CB8AC3E}">
        <p14:creationId xmlns:p14="http://schemas.microsoft.com/office/powerpoint/2010/main" val="3263737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EA87B9-067A-ABFD-E84B-0669F54FF45B}"/>
              </a:ext>
            </a:extLst>
          </p:cNvPr>
          <p:cNvSpPr txBox="1"/>
          <p:nvPr/>
        </p:nvSpPr>
        <p:spPr>
          <a:xfrm>
            <a:off x="1398" y="0"/>
            <a:ext cx="1219060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Breadth-First Search (BFS): The Optimal Explorer :</a:t>
            </a:r>
          </a:p>
          <a:p>
            <a:pPr>
              <a:buNone/>
            </a:pP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Search Strategy (Layered Expansion) :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Logic:</a:t>
            </a:r>
            <a:r>
              <a:rPr lang="en-US" dirty="0"/>
              <a:t> BFS explores the maze level by level, visiting all neighbors at the current distance before moving deeper.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Goal:</a:t>
            </a:r>
            <a:r>
              <a:rPr lang="en-US" dirty="0"/>
              <a:t> It acts as an exhaustive search to ensure no shorter path is missed.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2. Execution Mechanism 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Structure:</a:t>
            </a:r>
            <a:r>
              <a:rPr lang="en-US" dirty="0"/>
              <a:t> Uses a </a:t>
            </a:r>
            <a:r>
              <a:rPr lang="en-US" b="1" dirty="0"/>
              <a:t>FIFO Queue</a:t>
            </a:r>
            <a:r>
              <a:rPr lang="en-US" dirty="0"/>
              <a:t> (First-In, First-Out) to manage the frontier.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Graph Search:</a:t>
            </a:r>
            <a:r>
              <a:rPr lang="en-US" dirty="0"/>
              <a:t> We implemented a </a:t>
            </a:r>
            <a:r>
              <a:rPr lang="en-US" dirty="0">
                <a:latin typeface="Courier New" panose="02070309020205020404" pitchFamily="49" charset="0"/>
              </a:rPr>
              <a:t>visited</a:t>
            </a:r>
            <a:r>
              <a:rPr lang="en-US" dirty="0"/>
              <a:t> set to avoid redundant cycles, preventing the agent from wandering in circles.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3. Performance &amp; Optimality 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Shortest Path:</a:t>
            </a:r>
            <a:r>
              <a:rPr lang="en-US" dirty="0"/>
              <a:t> </a:t>
            </a:r>
            <a:r>
              <a:rPr lang="en-US" b="1" dirty="0"/>
              <a:t>Guaranteed.</a:t>
            </a:r>
            <a:r>
              <a:rPr lang="en-US" dirty="0"/>
              <a:t> BFS will always find the minimum number of steps to the goal.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Memory Trade-off:</a:t>
            </a:r>
            <a:r>
              <a:rPr lang="en-US" dirty="0"/>
              <a:t> High memory consumption because it must store all nodes at the current frontier level.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Case:</a:t>
            </a:r>
            <a:r>
              <a:rPr lang="en-US" dirty="0"/>
              <a:t> Best for small to medium mazes where finding the absolute shortest path is critical.</a:t>
            </a:r>
          </a:p>
        </p:txBody>
      </p:sp>
    </p:spTree>
    <p:extLst>
      <p:ext uri="{BB962C8B-B14F-4D97-AF65-F5344CB8AC3E}">
        <p14:creationId xmlns:p14="http://schemas.microsoft.com/office/powerpoint/2010/main" val="4125578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478B7-D2E9-DE60-D4CA-4C5D8D4FE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2FD0A-3FE1-B3D7-2C93-F7E3E001EB65}"/>
              </a:ext>
            </a:extLst>
          </p:cNvPr>
          <p:cNvSpPr txBox="1"/>
          <p:nvPr/>
        </p:nvSpPr>
        <p:spPr>
          <a:xfrm>
            <a:off x="1398" y="0"/>
            <a:ext cx="1219060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Depth-First Search (DFS): The Deep Diver :</a:t>
            </a:r>
          </a:p>
          <a:p>
            <a:pPr>
              <a:buNone/>
            </a:pP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Search Strategy (Branch Exploration) :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Logic:</a:t>
            </a:r>
            <a:r>
              <a:rPr lang="en-US" dirty="0"/>
              <a:t> DFS dives as deep as possible into one branch of the maze before backtracking to try other alternatives.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Goal:</a:t>
            </a:r>
            <a:r>
              <a:rPr lang="en-US" dirty="0"/>
              <a:t> Aims to find </a:t>
            </a:r>
            <a:r>
              <a:rPr lang="en-US" i="1" dirty="0"/>
              <a:t>any</a:t>
            </a:r>
            <a:r>
              <a:rPr lang="en-US" dirty="0"/>
              <a:t> solution quickly, rather than the </a:t>
            </a:r>
            <a:r>
              <a:rPr lang="en-US" i="1" dirty="0"/>
              <a:t>best</a:t>
            </a:r>
            <a:r>
              <a:rPr lang="en-US" dirty="0"/>
              <a:t> solution.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2. Execution Mechanism 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Structure:</a:t>
            </a:r>
            <a:r>
              <a:rPr lang="en-US" dirty="0"/>
              <a:t> Uses a </a:t>
            </a:r>
            <a:r>
              <a:rPr lang="en-US" b="1" dirty="0"/>
              <a:t>LIFO Stack</a:t>
            </a:r>
            <a:r>
              <a:rPr lang="en-US" dirty="0"/>
              <a:t> (Last-In, First-Out) to manage the frontier.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Backtracking:</a:t>
            </a:r>
            <a:r>
              <a:rPr lang="en-US" dirty="0"/>
              <a:t> Once a dead-end is reached, the agent "backtracks" to the last junction and tries the next path.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3. Risks &amp; Efficiency 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Shortest Path:</a:t>
            </a:r>
            <a:r>
              <a:rPr lang="en-US" dirty="0"/>
              <a:t> </a:t>
            </a:r>
            <a:r>
              <a:rPr lang="en-US" b="1" dirty="0"/>
              <a:t>Not Guaranteed.</a:t>
            </a:r>
            <a:r>
              <a:rPr lang="en-US" dirty="0"/>
              <a:t> DFS often finds very long, sub-optimal paths (e.g., taking 130 steps when 68 were possible).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Memory Efficiency:</a:t>
            </a:r>
            <a:r>
              <a:rPr lang="en-US" dirty="0"/>
              <a:t> Low memory footprint compared to BFS, as it only stores the current path from start to leaf.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Warning:</a:t>
            </a:r>
            <a:r>
              <a:rPr lang="en-US" dirty="0"/>
              <a:t> Without a "visited" set, DFS can easily get trapped in infinite loops.</a:t>
            </a:r>
          </a:p>
        </p:txBody>
      </p:sp>
    </p:spTree>
    <p:extLst>
      <p:ext uri="{BB962C8B-B14F-4D97-AF65-F5344CB8AC3E}">
        <p14:creationId xmlns:p14="http://schemas.microsoft.com/office/powerpoint/2010/main" val="4014235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EFD41-A55F-D719-D56B-28DF12169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EB9E3E-D56E-91DB-DC70-9601621D1392}"/>
              </a:ext>
            </a:extLst>
          </p:cNvPr>
          <p:cNvSpPr txBox="1"/>
          <p:nvPr/>
        </p:nvSpPr>
        <p:spPr>
          <a:xfrm>
            <a:off x="0" y="0"/>
            <a:ext cx="1219060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/>
              <a:t>A* The Intelligent Pathfinder 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1. Search Strategy (Informed Exploration) 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Logic:</a:t>
            </a:r>
            <a:r>
              <a:rPr lang="en-US" dirty="0"/>
              <a:t> Unlike BFS, A* doesn't explore blindly. It uses "Heuristic" information to prioritize paths that look more promising to reach the goal.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Goal:</a:t>
            </a:r>
            <a:r>
              <a:rPr lang="en-US" dirty="0"/>
              <a:t> To find the optimal path while expanding the minimum number of nodes possible.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2. Execution Mechanism 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Structure:</a:t>
            </a:r>
            <a:r>
              <a:rPr lang="en-US" dirty="0"/>
              <a:t> Uses a </a:t>
            </a:r>
            <a:r>
              <a:rPr lang="en-US" b="1" dirty="0"/>
              <a:t>Priority Queue</a:t>
            </a:r>
            <a:r>
              <a:rPr lang="en-US" dirty="0"/>
              <a:t> where nodes are ordered by their estimated total cost.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Scoring Function:</a:t>
            </a:r>
            <a:r>
              <a:rPr lang="en-US" dirty="0"/>
              <a:t> It calculates a score for each node using the formula: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f(n) = g(n) + h(n)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g(n)</a:t>
            </a:r>
            <a:r>
              <a:rPr lang="en-US" dirty="0"/>
              <a:t>: The actual cost to reach the current node.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h(n)</a:t>
            </a:r>
            <a:r>
              <a:rPr lang="en-US" dirty="0"/>
              <a:t>: The estimated cost from the current node to the goal.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3. Efficiency &amp; Heuristics 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Heuristic Used:</a:t>
            </a:r>
            <a:r>
              <a:rPr lang="en-US" dirty="0"/>
              <a:t> </a:t>
            </a:r>
            <a:r>
              <a:rPr lang="en-US" b="1" dirty="0"/>
              <a:t>Manhattan Distance</a:t>
            </a:r>
            <a:r>
              <a:rPr lang="en-US" dirty="0"/>
              <a:t>. This is an "Admissible" heuristic, meaning it never overestimates the distance, ensuring the shortest path is always found.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Performance:</a:t>
            </a:r>
            <a:r>
              <a:rPr lang="en-US" dirty="0"/>
              <a:t> Significantly faster than BFS in large mazes because it avoids exploring directions that lead away from the goal.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Optimality:</a:t>
            </a:r>
            <a:r>
              <a:rPr lang="en-US" dirty="0"/>
              <a:t> </a:t>
            </a:r>
            <a:r>
              <a:rPr lang="en-US" b="1" dirty="0"/>
              <a:t>Guaranteed.</a:t>
            </a:r>
            <a:r>
              <a:rPr lang="en-US" dirty="0"/>
              <a:t> It provides the perfect balance between completeness and efficiency.</a:t>
            </a:r>
          </a:p>
        </p:txBody>
      </p:sp>
    </p:spTree>
    <p:extLst>
      <p:ext uri="{BB962C8B-B14F-4D97-AF65-F5344CB8AC3E}">
        <p14:creationId xmlns:p14="http://schemas.microsoft.com/office/powerpoint/2010/main" val="421158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1DA95-97ED-48F3-89CA-E59F70E62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049113-AE79-DB70-34B8-664EC4C9A944}"/>
              </a:ext>
            </a:extLst>
          </p:cNvPr>
          <p:cNvSpPr txBox="1"/>
          <p:nvPr/>
        </p:nvSpPr>
        <p:spPr>
          <a:xfrm>
            <a:off x="0" y="0"/>
            <a:ext cx="12192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AI Risk Prediction: The "Neural Radar" Module :</a:t>
            </a:r>
          </a:p>
          <a:p>
            <a:pPr>
              <a:buNone/>
            </a:pPr>
            <a:r>
              <a:rPr lang="ar-EG" b="1" dirty="0"/>
              <a:t> </a:t>
            </a:r>
            <a:endParaRPr lang="en-US" b="1" dirty="0"/>
          </a:p>
          <a:p>
            <a:pPr>
              <a:buNone/>
            </a:pPr>
            <a:r>
              <a:rPr lang="en-US" b="1" dirty="0"/>
              <a:t>1. Tactical Logic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The Problem:</a:t>
            </a:r>
            <a:r>
              <a:rPr lang="en-US" dirty="0"/>
              <a:t> Search algorithms (like BFS/A*) focus on the goal but often ignore dynamic "Death Traps."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Our Solution:</a:t>
            </a:r>
            <a:r>
              <a:rPr lang="en-US" dirty="0"/>
              <a:t> A real-time </a:t>
            </a:r>
            <a:r>
              <a:rPr lang="en-US" b="1" dirty="0"/>
              <a:t>Neural Radar</a:t>
            </a:r>
            <a:r>
              <a:rPr lang="en-US" dirty="0"/>
              <a:t> that filters every move through a predictive model to ensure safety before execution.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2. Feature Engineering (Inputs)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Threat Detection:</a:t>
            </a:r>
            <a:r>
              <a:rPr lang="en-US" dirty="0"/>
              <a:t> Euclidean distance to the nearest Ghost/Trap.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Goal Alignment:</a:t>
            </a:r>
            <a:r>
              <a:rPr lang="en-US" dirty="0"/>
              <a:t> Distance to the nearest food pellet to maintain efficiency.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Spatial Constraints:</a:t>
            </a:r>
            <a:r>
              <a:rPr lang="en-US" dirty="0"/>
              <a:t> Wall density index (identifying narrow corridors and dead-ends).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3. Model Architecture (The Brain)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Framework:</a:t>
            </a:r>
            <a:r>
              <a:rPr lang="en-US" dirty="0"/>
              <a:t> Scikit-Learn </a:t>
            </a:r>
            <a:r>
              <a:rPr lang="en-US" dirty="0" err="1">
                <a:latin typeface="Courier New" panose="02070309020205020404" pitchFamily="49" charset="0"/>
              </a:rPr>
              <a:t>MLPClassifier</a:t>
            </a:r>
            <a:r>
              <a:rPr lang="en-US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Topology:</a:t>
            </a:r>
            <a:r>
              <a:rPr lang="en-US" dirty="0"/>
              <a:t> * </a:t>
            </a:r>
            <a:r>
              <a:rPr lang="en-US" b="1" dirty="0"/>
              <a:t>Input Layer:</a:t>
            </a:r>
            <a:r>
              <a:rPr lang="en-US" dirty="0"/>
              <a:t> 3 Spatial Features.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Hidden Layers:</a:t>
            </a:r>
            <a:r>
              <a:rPr lang="en-US" dirty="0"/>
              <a:t> 2 Dense Layers (</a:t>
            </a:r>
            <a:r>
              <a:rPr lang="en-US" b="1" dirty="0"/>
              <a:t>8x4 Architecture</a:t>
            </a:r>
            <a:r>
              <a:rPr lang="en-US" dirty="0"/>
              <a:t>).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Activation:</a:t>
            </a:r>
            <a:r>
              <a:rPr lang="en-US" dirty="0"/>
              <a:t> </a:t>
            </a:r>
            <a:r>
              <a:rPr lang="en-US" b="1" dirty="0" err="1"/>
              <a:t>ReLU</a:t>
            </a:r>
            <a:r>
              <a:rPr lang="en-US" dirty="0"/>
              <a:t> for fast, non-linear inference.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4. Training &amp; Reliability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Dataset:</a:t>
            </a:r>
            <a:r>
              <a:rPr lang="en-US" dirty="0"/>
              <a:t> 1,000 unique maze scenarios.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Validation:</a:t>
            </a:r>
            <a:r>
              <a:rPr lang="en-US" dirty="0"/>
              <a:t> 80/20 Train-Test split.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Goal:</a:t>
            </a:r>
            <a:r>
              <a:rPr lang="en-US" dirty="0"/>
              <a:t> Minimizing "False Negatives" (Predicting a cell is safe when it's actually deadly).</a:t>
            </a:r>
          </a:p>
        </p:txBody>
      </p:sp>
    </p:spTree>
    <p:extLst>
      <p:ext uri="{BB962C8B-B14F-4D97-AF65-F5344CB8AC3E}">
        <p14:creationId xmlns:p14="http://schemas.microsoft.com/office/powerpoint/2010/main" val="4172049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6D3BA-4BFB-FAA0-1599-ED3030B2E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6B1F33-B19C-43DD-2D84-17572609EFFA}"/>
              </a:ext>
            </a:extLst>
          </p:cNvPr>
          <p:cNvSpPr txBox="1"/>
          <p:nvPr/>
        </p:nvSpPr>
        <p:spPr>
          <a:xfrm>
            <a:off x="1398" y="0"/>
            <a:ext cx="121906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Testing Environment 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tested the algorithms on 3 maze sizes to evaluate scalability: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Tiny Maze:</a:t>
            </a:r>
            <a:r>
              <a:rPr lang="en-US" dirty="0"/>
              <a:t> For initial logic verification and debugging.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Medium Maze:</a:t>
            </a:r>
            <a:r>
              <a:rPr lang="en-US" dirty="0"/>
              <a:t> For accurate performance and speed comparison between algorithms.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Big Maze:</a:t>
            </a:r>
            <a:r>
              <a:rPr lang="en-US" dirty="0"/>
              <a:t> To test algorithm scalability and memory efficiency under heavy load.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3A5FF7-7B35-AAC3-7A5F-F3246C1CC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352398"/>
              </p:ext>
            </p:extLst>
          </p:nvPr>
        </p:nvGraphicFramePr>
        <p:xfrm>
          <a:off x="0" y="4645986"/>
          <a:ext cx="12192000" cy="146304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85162900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88928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0759918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364365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260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591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097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07525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54DC46-19AB-69FB-7901-D919E8F8AC68}"/>
              </a:ext>
            </a:extLst>
          </p:cNvPr>
          <p:cNvSpPr txBox="1"/>
          <p:nvPr/>
        </p:nvSpPr>
        <p:spPr>
          <a:xfrm>
            <a:off x="1397" y="2738491"/>
            <a:ext cx="121906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Comprehensive Evaluation (All Mazes)</a:t>
            </a:r>
            <a:r>
              <a:rPr lang="ar-EG" b="1" dirty="0"/>
              <a:t> :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Testing on Different Environments:</a:t>
            </a:r>
            <a:r>
              <a:rPr lang="en-US" dirty="0"/>
              <a:t> We evaluated the algorithms across three maze sizes to analyze their scalability.</a:t>
            </a:r>
            <a:endParaRPr lang="ar-EG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3359A2-A224-DBF9-44C3-CC0EDD747CAB}"/>
              </a:ext>
            </a:extLst>
          </p:cNvPr>
          <p:cNvSpPr txBox="1"/>
          <p:nvPr/>
        </p:nvSpPr>
        <p:spPr>
          <a:xfrm>
            <a:off x="0" y="3661821"/>
            <a:ext cx="6128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Google Sans Text"/>
              </a:rPr>
              <a:t>(1) Tiny Maze Table:</a:t>
            </a:r>
            <a:endParaRPr lang="en-US" dirty="0">
              <a:effectLst/>
              <a:latin typeface="Google Sans Text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3295953-E261-0C49-0063-28354677B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983199"/>
              </p:ext>
            </p:extLst>
          </p:nvPr>
        </p:nvGraphicFramePr>
        <p:xfrm>
          <a:off x="-2" y="4376131"/>
          <a:ext cx="12192000" cy="1737360"/>
        </p:xfrm>
        <a:graphic>
          <a:graphicData uri="http://schemas.openxmlformats.org/drawingml/2006/table">
            <a:tbl>
              <a:tblPr/>
              <a:tblGrid>
                <a:gridCol w="4064000">
                  <a:extLst>
                    <a:ext uri="{9D8B030D-6E8A-4147-A177-3AD203B41FA5}">
                      <a16:colId xmlns:a16="http://schemas.microsoft.com/office/drawing/2014/main" val="282291535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6990465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918472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Algorithm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Path Length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Nodes Expanded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902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BFS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8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15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816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DFS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10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15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209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i="1" dirty="0">
                          <a:effectLst/>
                          <a:latin typeface="Google Sans Text"/>
                        </a:rPr>
                        <a:t>A</a:t>
                      </a:r>
                      <a:r>
                        <a:rPr lang="en-US" b="1" dirty="0">
                          <a:effectLst/>
                          <a:latin typeface="Google Sans Text"/>
                        </a:rPr>
                        <a:t>*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8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14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485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971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0BE08-B7FB-4BE9-81B7-FCC4BCE0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48E97B-EA59-2294-03DD-9D18ABC41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738869"/>
              </p:ext>
            </p:extLst>
          </p:nvPr>
        </p:nvGraphicFramePr>
        <p:xfrm>
          <a:off x="0" y="2540080"/>
          <a:ext cx="12192000" cy="1463040"/>
        </p:xfrm>
        <a:graphic>
          <a:graphicData uri="http://schemas.openxmlformats.org/drawingml/2006/table">
            <a:tbl>
              <a:tblPr/>
              <a:tblGrid>
                <a:gridCol w="4064000">
                  <a:extLst>
                    <a:ext uri="{9D8B030D-6E8A-4147-A177-3AD203B41FA5}">
                      <a16:colId xmlns:a16="http://schemas.microsoft.com/office/drawing/2014/main" val="219625647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0374818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066939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342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433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37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47388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CEC1947-1767-056F-FC32-189995FDF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466022"/>
              </p:ext>
            </p:extLst>
          </p:nvPr>
        </p:nvGraphicFramePr>
        <p:xfrm>
          <a:off x="0" y="520333"/>
          <a:ext cx="12192000" cy="1737360"/>
        </p:xfrm>
        <a:graphic>
          <a:graphicData uri="http://schemas.openxmlformats.org/drawingml/2006/table">
            <a:tbl>
              <a:tblPr/>
              <a:tblGrid>
                <a:gridCol w="4064000">
                  <a:extLst>
                    <a:ext uri="{9D8B030D-6E8A-4147-A177-3AD203B41FA5}">
                      <a16:colId xmlns:a16="http://schemas.microsoft.com/office/drawing/2014/main" val="355609141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9061493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623988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Algorithm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Path Length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Nodes Expanded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151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BFS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68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269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80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DFS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130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146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933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i="1" dirty="0">
                          <a:effectLst/>
                          <a:latin typeface="Google Sans Text"/>
                        </a:rPr>
                        <a:t>A</a:t>
                      </a:r>
                      <a:r>
                        <a:rPr lang="en-US" b="1" dirty="0">
                          <a:effectLst/>
                          <a:latin typeface="Google Sans Text"/>
                        </a:rPr>
                        <a:t>*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68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221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3759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C86A91E-0838-FCE6-2915-7A145B4C85D7}"/>
              </a:ext>
            </a:extLst>
          </p:cNvPr>
          <p:cNvSpPr txBox="1"/>
          <p:nvPr/>
        </p:nvSpPr>
        <p:spPr>
          <a:xfrm>
            <a:off x="0" y="0"/>
            <a:ext cx="6128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Google Sans Text"/>
              </a:rPr>
              <a:t>(2) Medium Maze Table:</a:t>
            </a:r>
            <a:endParaRPr lang="en-US" dirty="0">
              <a:effectLst/>
              <a:latin typeface="Google Sans Text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FEAEAA9-7684-63CF-4B66-77F2C1959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899313"/>
              </p:ext>
            </p:extLst>
          </p:nvPr>
        </p:nvGraphicFramePr>
        <p:xfrm>
          <a:off x="1398" y="3874146"/>
          <a:ext cx="12190602" cy="1737360"/>
        </p:xfrm>
        <a:graphic>
          <a:graphicData uri="http://schemas.openxmlformats.org/drawingml/2006/table">
            <a:tbl>
              <a:tblPr/>
              <a:tblGrid>
                <a:gridCol w="4063534">
                  <a:extLst>
                    <a:ext uri="{9D8B030D-6E8A-4147-A177-3AD203B41FA5}">
                      <a16:colId xmlns:a16="http://schemas.microsoft.com/office/drawing/2014/main" val="1108360348"/>
                    </a:ext>
                  </a:extLst>
                </a:gridCol>
                <a:gridCol w="4063534">
                  <a:extLst>
                    <a:ext uri="{9D8B030D-6E8A-4147-A177-3AD203B41FA5}">
                      <a16:colId xmlns:a16="http://schemas.microsoft.com/office/drawing/2014/main" val="1770239783"/>
                    </a:ext>
                  </a:extLst>
                </a:gridCol>
                <a:gridCol w="4063534">
                  <a:extLst>
                    <a:ext uri="{9D8B030D-6E8A-4147-A177-3AD203B41FA5}">
                      <a16:colId xmlns:a16="http://schemas.microsoft.com/office/drawing/2014/main" val="1992542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Algorithm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Path Length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Nodes Expanded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120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BFS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210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620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642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DFS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210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390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208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i="1" dirty="0">
                          <a:effectLst/>
                          <a:latin typeface="Google Sans Text"/>
                        </a:rPr>
                        <a:t>A</a:t>
                      </a:r>
                      <a:r>
                        <a:rPr lang="en-US" b="1" dirty="0">
                          <a:effectLst/>
                          <a:latin typeface="Google Sans Text"/>
                        </a:rPr>
                        <a:t>*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210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549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58592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2D9039C-E13C-E324-3B0B-7F7D4E697ECB}"/>
              </a:ext>
            </a:extLst>
          </p:cNvPr>
          <p:cNvSpPr txBox="1"/>
          <p:nvPr/>
        </p:nvSpPr>
        <p:spPr>
          <a:xfrm>
            <a:off x="0" y="3222427"/>
            <a:ext cx="6128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Google Sans Text"/>
              </a:rPr>
              <a:t>(3) Big Maze Table:</a:t>
            </a:r>
            <a:endParaRPr lang="en-US" dirty="0"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923989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33471-37B2-0814-F8FA-37076DA5D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B00D7F-1BD7-1512-67E8-CAA62636768E}"/>
              </a:ext>
            </a:extLst>
          </p:cNvPr>
          <p:cNvSpPr txBox="1"/>
          <p:nvPr/>
        </p:nvSpPr>
        <p:spPr>
          <a:xfrm>
            <a:off x="0" y="0"/>
            <a:ext cx="12192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Algorithm Power &amp; Efficiency Analysis</a:t>
            </a:r>
            <a:r>
              <a:rPr lang="ar-EG" b="1" dirty="0"/>
              <a:t> </a:t>
            </a:r>
            <a:r>
              <a:rPr lang="en-US" b="1" dirty="0"/>
              <a:t>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measure the "Power" of each algorithm, we calculated their efficiency based on </a:t>
            </a:r>
            <a:r>
              <a:rPr lang="en-US" b="1" dirty="0"/>
              <a:t>Path Optimality</a:t>
            </a:r>
            <a:r>
              <a:rPr lang="en-US" dirty="0"/>
              <a:t> (finding the shortest path) and </a:t>
            </a:r>
            <a:r>
              <a:rPr lang="en-US" b="1" dirty="0"/>
              <a:t>Memory Efficiency</a:t>
            </a:r>
            <a:r>
              <a:rPr lang="en-US" dirty="0"/>
              <a:t> (expanding fewer nodes).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1. Breadth-First Search (BFS) Power: ~75%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Path Optimality:</a:t>
            </a:r>
            <a:r>
              <a:rPr lang="en-US" dirty="0"/>
              <a:t> 100% (Always finds the shortest path).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Memory Efficiency:</a:t>
            </a:r>
            <a:r>
              <a:rPr lang="en-US" dirty="0"/>
              <a:t> Low (Expands too many unnecessary nodes in large mazes).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2. Depth-First Search (DFS) Power: ~40%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Path Optimality:</a:t>
            </a:r>
            <a:r>
              <a:rPr lang="en-US" dirty="0"/>
              <a:t> 0% (Often finds the worst/longest path, e.g., 130 vs 68 in Medium Maze).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Memory Efficiency:</a:t>
            </a:r>
            <a:r>
              <a:rPr lang="en-US" dirty="0"/>
              <a:t> High (Can find a solution quickly without expanding many nodes, but the path is terrible).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i="1" dirty="0"/>
              <a:t>3. A Search (A*) Power: ~98% (</a:t>
            </a:r>
            <a:r>
              <a:rPr lang="en-US" i="1" dirty="0"/>
              <a:t>The Winner 🏆)</a:t>
            </a:r>
            <a:r>
              <a:rPr lang="en-US" dirty="0"/>
              <a:t>*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Path Optimality:</a:t>
            </a:r>
            <a:r>
              <a:rPr lang="en-US" dirty="0"/>
              <a:t> 100% (Guarantees the absolute shortest path).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Memory Efficiency:</a:t>
            </a:r>
            <a:r>
              <a:rPr lang="en-US" dirty="0"/>
              <a:t> Very High (Saves up to 20% of memory compared to BFS by using the Manhattan heuristic to target the goal directly).</a:t>
            </a:r>
          </a:p>
        </p:txBody>
      </p:sp>
    </p:spTree>
    <p:extLst>
      <p:ext uri="{BB962C8B-B14F-4D97-AF65-F5344CB8AC3E}">
        <p14:creationId xmlns:p14="http://schemas.microsoft.com/office/powerpoint/2010/main" val="611350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AC6E4-7161-AC83-1E89-CC92BBC02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EF036F-23B1-3EA3-5D42-BB79A0AB3E50}"/>
              </a:ext>
            </a:extLst>
          </p:cNvPr>
          <p:cNvSpPr txBox="1"/>
          <p:nvPr/>
        </p:nvSpPr>
        <p:spPr>
          <a:xfrm>
            <a:off x="0" y="0"/>
            <a:ext cx="912931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Live Demo 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Demonstrating the agent's behavior: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Showcasing optimal pathfinding using A* Search on the Big Maze.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Comparing the optimal path vs. DFS sub-optimal paths on the Medium Maze.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Showcasing the Neural Network avoiding ghosts in real-time.</a:t>
            </a:r>
          </a:p>
        </p:txBody>
      </p:sp>
    </p:spTree>
    <p:extLst>
      <p:ext uri="{BB962C8B-B14F-4D97-AF65-F5344CB8AC3E}">
        <p14:creationId xmlns:p14="http://schemas.microsoft.com/office/powerpoint/2010/main" val="3068013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CA85C-29B4-CA6F-038A-B309F2FF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D866F6-5520-8A8D-5432-1FD96A663AB7}"/>
              </a:ext>
            </a:extLst>
          </p:cNvPr>
          <p:cNvSpPr txBox="1"/>
          <p:nvPr/>
        </p:nvSpPr>
        <p:spPr>
          <a:xfrm>
            <a:off x="1398" y="0"/>
            <a:ext cx="1219060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Conclusion 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Objective Achieved:</a:t>
            </a:r>
            <a:r>
              <a:rPr lang="en-US" dirty="0"/>
              <a:t> Successfully built a rational agent that escapes faster (using A* Search) and smarter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(using Neural Networks).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Takeaway:</a:t>
            </a:r>
            <a:r>
              <a:rPr lang="en-US" dirty="0"/>
              <a:t> Demonstrated the clear superiority of informed search in dynamic environments over blind search.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91F905-DA87-4956-67AF-A131BEC6BE3C}"/>
              </a:ext>
            </a:extLst>
          </p:cNvPr>
          <p:cNvSpPr txBox="1"/>
          <p:nvPr/>
        </p:nvSpPr>
        <p:spPr>
          <a:xfrm>
            <a:off x="0" y="3059668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en-US" b="1" dirty="0"/>
              <a:t>Thank You!</a:t>
            </a:r>
            <a:r>
              <a:rPr lang="en-US" dirty="0"/>
              <a:t>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b="1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370717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944F8-0DF5-46DC-61D3-6B4897DF7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946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1492</Words>
  <Application>Microsoft Office PowerPoint</Application>
  <PresentationFormat>Widescreen</PresentationFormat>
  <Paragraphs>204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Google Sans Text</vt:lpstr>
      <vt:lpstr>Mona Sans VF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Ahmed</dc:creator>
  <cp:lastModifiedBy>Omar Ahmed</cp:lastModifiedBy>
  <cp:revision>2</cp:revision>
  <dcterms:created xsi:type="dcterms:W3CDTF">2026-05-08T21:42:06Z</dcterms:created>
  <dcterms:modified xsi:type="dcterms:W3CDTF">2026-05-08T23:21:41Z</dcterms:modified>
</cp:coreProperties>
</file>